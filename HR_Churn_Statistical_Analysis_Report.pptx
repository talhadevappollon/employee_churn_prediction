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Statistical Validation of HR Churn Predictors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T-Test &amp; Chi-Square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B4B4"/>
                </a:solidFill>
              </a:defRPr>
            </a:pPr>
            <a:r>
              <a:t>Statistical Analysis Report | January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Executive Summary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Methodology &amp; Approach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Feature Analysis: TotalWorkingYears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Feature Analysis: NumCompaniesWorked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Feature Analysis: OverTime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6. Feature Analysis: WorkLifeBalance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7. Comparative Results Summary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8. Statistical Confidence Assessment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9. Recommendations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333333"/>
                </a:solidFill>
              </a:defRPr>
            </a:pPr>
            <a:r>
              <a:t>OBJECTIVE: Validate the statistical significance of 4 features recommended by the Data Science team for predicting employee churn.</a:t>
            </a:r>
            <a:br/>
            <a:br/>
            <a:r>
              <a:t>RESULT: 3 out of 4 features demonstrated statistically significant associations with employee attrition (p &lt; 0.05).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2004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Test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Significant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Effect Size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TotalWorkingYears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994C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Small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NumCompaniesWorked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Negligible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OverTime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Chi-Square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994C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Small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WorkLifeBalance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Chi-Square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994C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Small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94C"/>
                </a:solidFill>
              </a:defRPr>
            </a:pPr>
            <a:r>
              <a:t>✓ MOSTLY VALIDATED: Majority of features are reliable. Focus on significant predictors.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Methodology &amp; Statistical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333333"/>
                </a:solidFill>
              </a:defRPr>
            </a:pPr>
            <a:r>
              <a:t>STATISTICAL TESTS APPLIED:</a:t>
            </a:r>
            <a:br/>
            <a:br/>
            <a:r>
              <a:t>1. Independent T-Test (Continuous Variables)</a:t>
            </a:r>
            <a:br/>
            <a:r>
              <a:t>   • Used for: TotalWorkingYears, NumCompaniesWorked</a:t>
            </a:r>
            <a:br/>
            <a:r>
              <a:t>   • Tests: Difference in means between churners vs non-churners</a:t>
            </a:r>
            <a:br/>
            <a:r>
              <a:t>   • Significance Level: α = 0.05</a:t>
            </a:r>
            <a:br/>
            <a:r>
              <a:t>   • Effect Size Measure: Cohen's d</a:t>
            </a:r>
            <a:br/>
            <a:br/>
            <a:r>
              <a:t>2. Chi-Square Test of Independence (Categorical Variables)</a:t>
            </a:r>
            <a:br/>
            <a:r>
              <a:t>   • Used for: OverTime, WorkLifeBalance</a:t>
            </a:r>
            <a:br/>
            <a:r>
              <a:t>   • Tests: Association between feature categories and attrition</a:t>
            </a:r>
            <a:br/>
            <a:r>
              <a:t>   • Significance Level: α = 0.05</a:t>
            </a:r>
            <a:br/>
            <a:r>
              <a:t>   • Effect Size Measure: Cramér's V</a:t>
            </a:r>
            <a:br/>
            <a:br/>
            <a:r>
              <a:t>VALIDATION CRITERIA:</a:t>
            </a:r>
            <a:br/>
            <a:r>
              <a:t>✓ p-value &lt; 0.05: Feature is statistically significant</a:t>
            </a:r>
            <a:br/>
            <a:r>
              <a:t>✓ Effect Size: Quantifies practical significance (negligible/small/medium/large)</a:t>
            </a:r>
            <a:br/>
            <a:r>
              <a:t>✓ Confidence Levels: 95%, 99%, 99.9%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Analysis: TotalWorkingYears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talWorkingYear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5430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994C"/>
                </a:solidFill>
              </a:defRPr>
            </a:pPr>
            <a:r>
              <a:t>✓ SIGNIFICANT (p=0.0000, Small effect) - RECOMMENDED - Valid predictor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Analysis: NumCompaniesWorked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umCompaniesWorke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5430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00000"/>
                </a:solidFill>
              </a:defRPr>
            </a:pPr>
            <a:r>
              <a:t>✗ NOT SIGNIFICANT (p=0.0955) - NOT RECOMMENDED - Weak/No association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Analysis: OverTime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verTim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54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994C"/>
                </a:solidFill>
              </a:defRPr>
            </a:pPr>
            <a:r>
              <a:t>✓ SIGNIFICANT (p=0.0000, Small effect) - RECOMMENDED - Valid predictor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Analysis: WorkLifeBalance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orkLifeBalanc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54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994C"/>
                </a:solidFill>
              </a:defRPr>
            </a:pPr>
            <a:r>
              <a:t>✓ SIGNIFICANT (p=0.0010, Small effect) - RECOMMENDED - Valid predictor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Comparative 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mma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3501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Statistical Confidence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33333"/>
                </a:solidFill>
              </a:defRPr>
            </a:pPr>
            <a:r>
              <a:t>CONFIDENCE LEVELS BY FEATURE:</a:t>
            </a:r>
            <a:br/>
            <a:br/>
            <a:r>
              <a:t>✓ TotalWorkingYears</a:t>
            </a:r>
            <a:br/>
            <a:r>
              <a:t>   Confidence: 99.9% (Extremely High)</a:t>
            </a:r>
            <a:br/>
            <a:br/>
            <a:r>
              <a:t>✗ NumCompaniesWorked</a:t>
            </a:r>
            <a:br/>
            <a:r>
              <a:t>   Confidence: Below 95% (Low - Not Reliable)</a:t>
            </a:r>
            <a:br/>
            <a:br/>
            <a:r>
              <a:t>✓ OverTime</a:t>
            </a:r>
            <a:br/>
            <a:r>
              <a:t>   Confidence: 99.9% (Extremely High)</a:t>
            </a:r>
            <a:br/>
            <a:br/>
            <a:r>
              <a:t>✓ WorkLifeBalance</a:t>
            </a:r>
            <a:br/>
            <a:r>
              <a:t>   Confidence: 99.9% (Extremely High)</a:t>
            </a:r>
            <a:br/>
            <a:br/>
            <a:br/>
            <a:r>
              <a:t>INTERPRETATION GUIDE:</a:t>
            </a:r>
            <a:br/>
            <a:r>
              <a:t>• 99.9% (p &lt; 0.001): Extremely strong evidence - Highest confidence</a:t>
            </a:r>
            <a:br/>
            <a:r>
              <a:t>• 99% (p &lt; 0.01): Very strong evidence - Very high confidence</a:t>
            </a:r>
            <a:br/>
            <a:r>
              <a:t>• 95% (p &lt; 0.05): Strong evidence - High confidence</a:t>
            </a:r>
            <a:br/>
            <a:r>
              <a:t>• Below 95%: Insufficient evidence - Not reliable for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Recommendations &amp;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33333"/>
                </a:solidFill>
              </a:defRPr>
            </a:pPr>
            <a:r>
              <a:t>KEY FINDINGS:</a:t>
            </a:r>
            <a:br/>
            <a:br/>
            <a:r>
              <a:t>✓ STATISTICALLY VALIDATED FEATURES (3):</a:t>
            </a:r>
            <a:br/>
            <a:r>
              <a:t>   • TotalWorkingYears</a:t>
            </a:r>
            <a:br/>
            <a:r>
              <a:t>   • OverTime</a:t>
            </a:r>
            <a:br/>
            <a:r>
              <a:t>   • WorkLifeBalance</a:t>
            </a:r>
            <a:br/>
            <a:br/>
            <a:r>
              <a:t>✗ NON-VALIDATED FEATURES (1):</a:t>
            </a:r>
            <a:br/>
            <a:r>
              <a:t>   • NumCompaniesWorked</a:t>
            </a:r>
            <a:br/>
            <a:br/>
            <a:br/>
            <a:r>
              <a:t>ACTIONABLE RECOMMENDATIONS:</a:t>
            </a:r>
            <a:br/>
            <a:br/>
            <a:r>
              <a:t>1. PRIORITIZE validated features in your predictive model</a:t>
            </a:r>
            <a:br/>
            <a:r>
              <a:t>2. WEIGHT features based on effect size magnitude</a:t>
            </a:r>
            <a:br/>
            <a:r>
              <a:t>3. CONSIDER removing non-significant features to reduce noise</a:t>
            </a:r>
            <a:br/>
            <a:r>
              <a:t>4. MONITOR model performance with validated feature set</a:t>
            </a:r>
            <a:br/>
            <a:r>
              <a:t>5. EXPLORE additional features if validation rate is low</a:t>
            </a:r>
            <a:br/>
            <a:br/>
            <a:r>
              <a:t>CONCLUSION:</a:t>
            </a:r>
            <a:br/>
            <a:r>
              <a:t>The statistical analysis provides objective validation of feature importance.</a:t>
            </a:r>
            <a:br/>
            <a:r>
              <a:t>Use these insights to build a more reliable and interpretable churn prediction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Technical Appendix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33333"/>
                </a:solidFill>
              </a:defRPr>
            </a:pPr>
            <a:r>
              <a:t>EFFECT SIZE INTERPRETATIONS:</a:t>
            </a:r>
            <a:br/>
            <a:br/>
            <a:r>
              <a:t>Cohen's d (T-Test):</a:t>
            </a:r>
            <a:br/>
            <a:r>
              <a:t>• &lt; 0.2: Negligible effect</a:t>
            </a:r>
            <a:br/>
            <a:r>
              <a:t>• 0.2 - 0.5: Small effect</a:t>
            </a:r>
            <a:br/>
            <a:r>
              <a:t>• 0.5 - 0.8: Medium effect</a:t>
            </a:r>
            <a:br/>
            <a:r>
              <a:t>• &gt; 0.8: Large effect</a:t>
            </a:r>
            <a:br/>
            <a:br/>
            <a:r>
              <a:t>Cramér's V (Chi-Square):</a:t>
            </a:r>
            <a:br/>
            <a:r>
              <a:t>• &lt; 0.1: Negligible association</a:t>
            </a:r>
            <a:br/>
            <a:r>
              <a:t>• 0.1 - 0.3: Small association</a:t>
            </a:r>
            <a:br/>
            <a:r>
              <a:t>• 0.3 - 0.5: Medium association</a:t>
            </a:r>
            <a:br/>
            <a:r>
              <a:t>• &gt; 0.5: Large association</a:t>
            </a:r>
            <a:br/>
            <a:br/>
            <a:r>
              <a:t>ASSUMPTIONS &amp; LIMITATIONS:</a:t>
            </a:r>
            <a:br/>
            <a:r>
              <a:t>• Sample size: N = 1471 employees</a:t>
            </a:r>
            <a:br/>
            <a:r>
              <a:t>• Missing data handled via exclusion</a:t>
            </a:r>
            <a:br/>
            <a:r>
              <a:t>• Independence assumption verified</a:t>
            </a:r>
            <a:br/>
            <a:r>
              <a:t>• Both parametric and non-parametric tests conducted</a:t>
            </a:r>
            <a:br/>
            <a:br/>
            <a:r>
              <a:t>TOOLS &amp; LIBRARIES:</a:t>
            </a:r>
            <a:br/>
            <a:r>
              <a:t>• Python 3.x with SciPy for statistical tests</a:t>
            </a:r>
            <a:br/>
            <a:r>
              <a:t>• Pandas for data manipulation</a:t>
            </a:r>
            <a:br/>
            <a:r>
              <a:t>• Matplotlib/Seaborn for visualizations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